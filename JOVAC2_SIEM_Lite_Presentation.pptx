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Introduce the project in one line. Emphasize that it centralizes security logs, correlates events, detects common threats, and shows alerts/incidents on a SOC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operational problem first, then the reason for correlation. Do not start with technologies.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pipeline first, then highlight that the current version is a lightweight prototype for learning and small-scale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brute-force example to make correlation intuitive. The value of SIEM is not just storing logs; it is turning events into security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Mention that the Python server serves the frontend and accepts JSON events. Then explain that JavaScript handles correlation/detection and visual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one end-to-end example. This is the most important slide for the implementation/execution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fast. Mention only the features that you can demonstrate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explain one condition in depth: brute force is the easiest. Also explain that these rules are intentionally transparent but not equivalent to enterprise-scale behavioral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point is not the list itself. Explain why the stack is appropriate: lightweight, familiar and enough to demonstrate the complete SIEM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keep visible before the live demo. Follow the sequence exactly, and narrate the data flow while clicking.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should say one sentence about their contribution. Team leader should introduce the problem, architecture and coordination.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“How did you validate it?”, mention the Attack Console test scenarios and the expected alerts/incidents.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hide limitations. Examiners usually reward honest scope awareness.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future scope to current limitations. Each future item should solve one current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questions to rehearse query handling. Keep answers short and relate them back to the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JOVAC • SIEM-Lite for Small Organizations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241280" y="64739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 AUG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731520"/>
            <a:ext cx="4846320" cy="4846320"/>
          </a:xfrm>
          <a:prstGeom prst="arc">
            <a:avLst/>
          </a:prstGeom>
          <a:noFill/>
          <a:ln w="25400">
            <a:solidFill>
              <a:srgbClr val="21D4C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91440"/>
            <a:ext cx="3383280" cy="3383280"/>
          </a:xfrm>
          <a:prstGeom prst="arc">
            <a:avLst/>
          </a:prstGeom>
          <a:noFill/>
          <a:ln w="25400">
            <a:solidFill>
              <a:srgbClr val="5AA9FF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132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1D4C6"/>
                </a:solidFill>
              </a:rPr>
              <a:t>JOVAC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243584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SIEM-Lite for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 Organizations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ACB"/>
                </a:solidFill>
              </a:rPr>
              <a:t>Lightweight security monitoring, threat detection &amp; SOC dashboard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" y="3337560"/>
            <a:ext cx="6172200" cy="1115568"/>
          </a:xfrm>
          <a:prstGeom prst="roundRect">
            <a:avLst>
              <a:gd name="adj" fmla="val 6557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35387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D4C6"/>
                </a:solidFill>
              </a:rPr>
              <a:t>TEAM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6112" y="3813048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4F7FB"/>
                </a:solidFill>
              </a:rPr>
              <a:t>Priyam Srivastava (Team Leader)  •  Rajat  •  Nishant Yadav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4F7FB"/>
                </a:solidFill>
              </a:rPr>
              <a:t>Jayprakash Singh  •  Lucky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4270248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BACB"/>
                </a:solidFill>
              </a:rPr>
              <a:t>B.Tech 3rd Year  |  Sections: SB, SD, CC, GA, GA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B"/>
                </a:solidFill>
              </a:rPr>
              <a:t>31 August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2668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5AA9FF"/>
                </a:solidFill>
              </a:rPr>
              <a:t>“Centralize • Correlate • Detect • Respond”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B"/>
                </a:solidFill>
              </a:rPr>
              <a:t>Why small organizations need centralized security visibility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4416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</a:rPr>
              <a:t>WHY THIS MATTERS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64208"/>
            <a:ext cx="64008" cy="34290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8105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454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9576" y="1810512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Scattered Logs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" y="2231136"/>
            <a:ext cx="3026664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Security events are generated across endpoints, servers, firewalls and web applications. Checking each source manually is slow and inconsistent.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9976" y="1664208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22000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79976" y="1664208"/>
            <a:ext cx="64008" cy="3429000"/>
          </a:xfrm>
          <a:prstGeom prst="rect">
            <a:avLst/>
          </a:prstGeom>
          <a:solidFill>
            <a:srgbClr val="FF6677"/>
          </a:solidFill>
          <a:ln w="12700">
            <a:solidFill>
              <a:srgbClr val="FF66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18105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677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65192" y="1810512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Missed Relationships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81144" y="2231136"/>
            <a:ext cx="3026664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A single failed login may look normal, but repeated events from the same source within a short time window can indicate an attack.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65592" y="1664208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2200000000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65592" y="1664208"/>
            <a:ext cx="64008" cy="3429000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18105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9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50808" y="1810512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Limited Resources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66760" y="2231136"/>
            <a:ext cx="3026664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Small organizations often need a lightweight monitoring layer rather than a complex enterprise SIEM stack.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97280" y="5468112"/>
            <a:ext cx="9921240" cy="0"/>
          </a:xfrm>
          <a:prstGeom prst="line">
            <a:avLst/>
          </a:prstGeom>
          <a:noFill/>
          <a:ln w="15240">
            <a:solidFill>
              <a:srgbClr val="2440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563270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D4C6"/>
                </a:solidFill>
              </a:rPr>
              <a:t>Core problem: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27632" y="5632704"/>
            <a:ext cx="9052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7FB"/>
                </a:solidFill>
              </a:rPr>
              <a:t>How do we turn many raw events into one understandable security picture?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8397"/>
                </a:solidFill>
              </a:rPr>
              <a:t>Project basis: repository README — overview, objective and features.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Project Objective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B"/>
                </a:solidFill>
              </a:rPr>
              <a:t>What our SIEM-Lite is designed to do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4416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</a:rPr>
              <a:t>OBJECTIVE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" y="164592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12243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84248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F7FB"/>
                </a:solidFill>
              </a:rPr>
              <a:t>Collect → Normalize → Detect → Correlate → Alert → Incident → Dashboard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" y="3063240"/>
            <a:ext cx="2011680" cy="1353312"/>
          </a:xfrm>
          <a:prstGeom prst="roundRect">
            <a:avLst>
              <a:gd name="adj" fmla="val 5405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220000000000000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41832" y="3209544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D4C6"/>
                </a:solidFill>
              </a:rPr>
              <a:t>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41832" y="369417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Threat categories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99232" y="3063240"/>
            <a:ext cx="2011680" cy="1353312"/>
          </a:xfrm>
          <a:prstGeom prst="roundRect">
            <a:avLst>
              <a:gd name="adj" fmla="val 5405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2.2e+24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63824" y="3209544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A9FF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163824" y="369417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REST endpoints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21224" y="3063240"/>
            <a:ext cx="2011680" cy="1353312"/>
          </a:xfrm>
          <a:prstGeom prst="roundRect">
            <a:avLst>
              <a:gd name="adj" fmla="val 5405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2.2e+29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85816" y="3209544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454"/>
                </a:solidFill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85816" y="369417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Export formats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43216" y="3063240"/>
            <a:ext cx="2011680" cy="1353312"/>
          </a:xfrm>
          <a:prstGeom prst="roundRect">
            <a:avLst>
              <a:gd name="adj" fmla="val 5405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2.2e+34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07808" y="3209544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E0A0"/>
                </a:solidFill>
              </a:rPr>
              <a:t>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607808" y="369417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Central SOC dashboard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65208" y="3063240"/>
            <a:ext cx="1572768" cy="1353312"/>
          </a:xfrm>
          <a:prstGeom prst="roundRect">
            <a:avLst>
              <a:gd name="adj" fmla="val 5405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2.2e+39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29800" y="3209544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677"/>
                </a:solidFill>
              </a:rPr>
              <a:t>24/7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829800" y="369417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Monitoring concept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" y="4709160"/>
            <a:ext cx="1033272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30" dirty="0">
                <a:solidFill>
                  <a:srgbClr val="F4F7FB"/>
                </a:solidFill>
              </a:rPr>
              <a:t>Support multi-source security events and external JSON log submission.</a:t>
            </a:r>
            <a:endParaRPr lang="en-US" sz="1130" dirty="0"/>
          </a:p>
          <a:p>
            <a:r>
              <a:rPr lang="en-US" sz="1130" dirty="0">
                <a:solidFill>
                  <a:srgbClr val="F4F7FB"/>
                </a:solidFill>
              </a:rPr>
              <a:t>Use stateful, sliding-window correlation to detect suspicious activity.</a:t>
            </a:r>
            <a:endParaRPr lang="en-US" sz="1130" dirty="0"/>
          </a:p>
          <a:p>
            <a:r>
              <a:rPr lang="en-US" sz="1130" dirty="0">
                <a:solidFill>
                  <a:srgbClr val="F4F7FB"/>
                </a:solidFill>
              </a:rPr>
              <a:t>Present logs, alerts, incidents, rules and reports in one browser-based interface.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566928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8397"/>
                </a:solidFill>
              </a:rPr>
              <a:t>Project basis: README — objective, features and API description.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What is SIEM?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B"/>
                </a:solidFill>
              </a:rPr>
              <a:t>Simple explanation for a non-technical audience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4416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</a:rPr>
              <a:t>CONCEPT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D4C6"/>
                </a:solidFill>
              </a:rPr>
              <a:t>SIEM = Security Information and Event Management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2.2e+4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0392" y="246888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454"/>
                </a:solidFill>
              </a:rPr>
              <a:t>LOGS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278892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raw events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96312" y="2578608"/>
            <a:ext cx="384048" cy="347472"/>
          </a:xfrm>
          <a:prstGeom prst="chevron">
            <a:avLst/>
          </a:prstGeom>
          <a:solidFill>
            <a:srgbClr val="24405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22402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2.2e+49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36392" y="246888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A9FF"/>
                </a:solidFill>
              </a:rPr>
              <a:t>NORMALIZE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36392" y="278892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common format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82312" y="2578608"/>
            <a:ext cx="384048" cy="347472"/>
          </a:xfrm>
          <a:prstGeom prst="chevron">
            <a:avLst/>
          </a:prstGeom>
          <a:solidFill>
            <a:srgbClr val="24405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22402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2.2e+54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22392" y="246888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D4C6"/>
                </a:solidFill>
              </a:rPr>
              <a:t>CORRELATE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22392" y="278892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related events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68312" y="2578608"/>
            <a:ext cx="384048" cy="347472"/>
          </a:xfrm>
          <a:prstGeom prst="chevron">
            <a:avLst/>
          </a:prstGeom>
          <a:solidFill>
            <a:srgbClr val="24405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35240" y="22402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00000">
                <a:alpha val="2.2e+59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08392" y="246888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677"/>
                </a:solidFill>
              </a:rPr>
              <a:t>DETECT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08392" y="278892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rule match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354312" y="2578608"/>
            <a:ext cx="384048" cy="347472"/>
          </a:xfrm>
          <a:prstGeom prst="chevron">
            <a:avLst/>
          </a:prstGeom>
          <a:solidFill>
            <a:srgbClr val="24405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22402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00000">
                <a:alpha val="2.2e+64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994392" y="246888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E0A0"/>
                </a:solidFill>
              </a:rPr>
              <a:t>ALERT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994392" y="278892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actionable signal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0" y="3886200"/>
            <a:ext cx="4892040" cy="1554480"/>
          </a:xfrm>
          <a:prstGeom prst="roundRect">
            <a:avLst>
              <a:gd name="adj" fmla="val 4706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00000">
                <a:alpha val="2.2e+69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3886200"/>
            <a:ext cx="64008" cy="1554480"/>
          </a:xfrm>
          <a:prstGeom prst="rect">
            <a:avLst/>
          </a:prstGeom>
          <a:solidFill>
            <a:srgbClr val="FF6677"/>
          </a:solidFill>
          <a:ln w="12700">
            <a:solidFill>
              <a:srgbClr val="FF66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5568" y="40325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677"/>
                </a:solidFill>
              </a:rPr>
              <a:t>!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9616" y="4032504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Example: Brute Force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15568" y="4453128"/>
            <a:ext cx="448970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5 failed logins from the same source within 60 seconds become more meaningful together than as isolated events.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44768" y="3886200"/>
            <a:ext cx="4892040" cy="1554480"/>
          </a:xfrm>
          <a:prstGeom prst="roundRect">
            <a:avLst>
              <a:gd name="adj" fmla="val 4706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00000">
                <a:alpha val="2.2e+74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3886200"/>
            <a:ext cx="64008" cy="1554480"/>
          </a:xfrm>
          <a:prstGeom prst="rect">
            <a:avLst/>
          </a:prstGeom>
          <a:solidFill>
            <a:srgbClr val="5FE0A0"/>
          </a:solidFill>
          <a:ln w="12700">
            <a:solidFill>
              <a:srgbClr val="5FE0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5936" y="40325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E0A0"/>
                </a:solidFill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29984" y="4032504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Why this is useful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45936" y="4453128"/>
            <a:ext cx="448970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The analyst sees one high-value alert instead of manually inspecting every individual log entry.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8397"/>
                </a:solidFill>
              </a:rPr>
              <a:t>Project basis: README — architecture, correlation, detection rules and dashboard workflow.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B"/>
                </a:solidFill>
              </a:rPr>
              <a:t>How the implemented components connect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4416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21792" y="1828800"/>
            <a:ext cx="1828800" cy="749808"/>
          </a:xfrm>
          <a:prstGeom prst="roundRect">
            <a:avLst>
              <a:gd name="adj" fmla="val 7317"/>
            </a:avLst>
          </a:prstGeom>
          <a:solidFill>
            <a:srgbClr val="0F1C2D"/>
          </a:solidFill>
          <a:ln w="19050">
            <a:solidFill>
              <a:srgbClr val="FFB454"/>
            </a:solidFill>
            <a:prstDash val="solid"/>
          </a:ln>
          <a:effectLst>
            <a:outerShdw sx="100000" sy="100000" kx="0" ky="0" algn="bl" rotWithShape="0" blurRad="9.15987465915355e+65" dist="4.579937329576775e+65" dir="1.2694994583552002e+78">
              <a:srgbClr val="000000">
                <a:alpha val="2.2000000000000002e+79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5681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454"/>
                </a:solidFill>
              </a:rPr>
              <a:t>LOG SOURCES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2176272"/>
            <a:ext cx="1609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9BACB"/>
                </a:solidFill>
              </a:rPr>
              <a:t>Endpoints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A9BACB"/>
                </a:solidFill>
              </a:rPr>
              <a:t>Servers / Firewalls / Web Apps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569464" y="2075688"/>
            <a:ext cx="274320" cy="274320"/>
          </a:xfrm>
          <a:prstGeom prst="chevron">
            <a:avLst/>
          </a:prstGeom>
          <a:solidFill>
            <a:srgbClr val="24405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828800"/>
            <a:ext cx="1828800" cy="749808"/>
          </a:xfrm>
          <a:prstGeom prst="roundRect">
            <a:avLst>
              <a:gd name="adj" fmla="val 7317"/>
            </a:avLst>
          </a:prstGeom>
          <a:solidFill>
            <a:srgbClr val="0F1C2D"/>
          </a:solidFill>
          <a:ln w="19050">
            <a:solidFill>
              <a:srgbClr val="5AA9FF"/>
            </a:solidFill>
            <a:prstDash val="solid"/>
          </a:ln>
          <a:effectLst>
            <a:outerShdw sx="100000" sy="100000" kx="0" ky="0" algn="bl" rotWithShape="0" blurRad="1.1633040817125008e+70" dist="5.816520408562504e+69" dir="7.616996750131201e+82">
              <a:srgbClr val="000000">
                <a:alpha val="2.2000000000000003e+8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98648" y="195681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A9FF"/>
                </a:solidFill>
              </a:rPr>
              <a:t>PYTHON SERVER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898648" y="2176272"/>
            <a:ext cx="1609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9BACB"/>
                </a:solidFill>
              </a:rPr>
              <a:t>HTTP + REST-style API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A9BACB"/>
                </a:solidFill>
              </a:rPr>
              <a:t>/api/logs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736592" y="2075688"/>
            <a:ext cx="274320" cy="274320"/>
          </a:xfrm>
          <a:prstGeom prst="chevron">
            <a:avLst/>
          </a:prstGeom>
          <a:solidFill>
            <a:srgbClr val="24405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56048" y="1828800"/>
            <a:ext cx="1828800" cy="749808"/>
          </a:xfrm>
          <a:prstGeom prst="roundRect">
            <a:avLst>
              <a:gd name="adj" fmla="val 7317"/>
            </a:avLst>
          </a:prstGeom>
          <a:solidFill>
            <a:srgbClr val="0F1C2D"/>
          </a:solidFill>
          <a:ln w="19050">
            <a:solidFill>
              <a:srgbClr val="21D4C6"/>
            </a:solidFill>
            <a:prstDash val="solid"/>
          </a:ln>
          <a:effectLst>
            <a:outerShdw sx="100000" sy="100000" kx="0" ky="0" algn="bl" rotWithShape="0" blurRad="1.477396183774876e+74" dist="7.38698091887438e+73" dir="4.57019805007872e+87">
              <a:srgbClr val="000000">
                <a:alpha val="2.2000000000000003e+89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65776" y="195681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D4C6"/>
                </a:solidFill>
              </a:rPr>
              <a:t>INGESTOR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65776" y="2176272"/>
            <a:ext cx="1609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9BACB"/>
                </a:solidFill>
              </a:rPr>
              <a:t>Receive + normalize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A9BACB"/>
                </a:solidFill>
              </a:rPr>
              <a:t>events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903720" y="2075688"/>
            <a:ext cx="274320" cy="274320"/>
          </a:xfrm>
          <a:prstGeom prst="chevron">
            <a:avLst/>
          </a:prstGeom>
          <a:solidFill>
            <a:srgbClr val="24405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23176" y="1828800"/>
            <a:ext cx="1828800" cy="749808"/>
          </a:xfrm>
          <a:prstGeom prst="roundRect">
            <a:avLst>
              <a:gd name="adj" fmla="val 7317"/>
            </a:avLst>
          </a:prstGeom>
          <a:solidFill>
            <a:srgbClr val="0F1C2D"/>
          </a:solidFill>
          <a:ln w="19050">
            <a:solidFill>
              <a:srgbClr val="FF6677"/>
            </a:solidFill>
            <a:prstDash val="solid"/>
          </a:ln>
          <a:effectLst>
            <a:outerShdw sx="100000" sy="100000" kx="0" ky="0" algn="bl" rotWithShape="0" blurRad="1.8762931533940924e+78" dist="9.381465766970462e+77" dir="2.742118830047232e+92">
              <a:srgbClr val="000000">
                <a:alpha val="2.2e+94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32904" y="195681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677"/>
                </a:solidFill>
              </a:rPr>
              <a:t>CORRELATION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232904" y="2176272"/>
            <a:ext cx="16093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9BACB"/>
                </a:solidFill>
              </a:rPr>
              <a:t>Sliding time windows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A9BACB"/>
                </a:solidFill>
              </a:rPr>
              <a:t>+ detection rules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9070848" y="2075688"/>
            <a:ext cx="274320" cy="274320"/>
          </a:xfrm>
          <a:prstGeom prst="chevron">
            <a:avLst/>
          </a:prstGeom>
          <a:solidFill>
            <a:srgbClr val="24405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90304" y="1828800"/>
            <a:ext cx="2103120" cy="749808"/>
          </a:xfrm>
          <a:prstGeom prst="roundRect">
            <a:avLst>
              <a:gd name="adj" fmla="val 7317"/>
            </a:avLst>
          </a:prstGeom>
          <a:solidFill>
            <a:srgbClr val="0F1C2D"/>
          </a:solidFill>
          <a:ln w="19050">
            <a:solidFill>
              <a:srgbClr val="5FE0A0"/>
            </a:solidFill>
            <a:prstDash val="solid"/>
          </a:ln>
          <a:effectLst>
            <a:outerShdw sx="100000" sy="100000" kx="0" ky="0" algn="bl" rotWithShape="0" blurRad="2.3828923048104974e+82" dist="1.1914461524052487e+82" dir="1.6452712980283393e+97">
              <a:srgbClr val="000000">
                <a:alpha val="2.2000000000000003e+99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00032" y="1956816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E0A0"/>
                </a:solidFill>
              </a:rPr>
              <a:t>SOC DASHBOARD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00032" y="2176272"/>
            <a:ext cx="18836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9BACB"/>
                </a:solidFill>
              </a:rPr>
              <a:t>Logs + alerts + incidents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A9BACB"/>
                </a:solidFill>
              </a:rPr>
              <a:t>+ reports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658368" y="29992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ACB"/>
                </a:solidFill>
              </a:rPr>
              <a:t>Frontend / Browser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00" y="2596896"/>
            <a:ext cx="-6309360" cy="914400"/>
          </a:xfrm>
          <a:prstGeom prst="line">
            <a:avLst/>
          </a:prstGeom>
          <a:noFill/>
          <a:ln w="16510">
            <a:solidFill>
              <a:srgbClr val="5AA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327355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7FB"/>
                </a:solidFill>
              </a:rPr>
              <a:t>JavaScript modules process events, update charts/views and support simulated response workflows.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" y="4041648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3.0262732271093317e+86" dist="1.5131366135546659e+86" dir="9.871627788170037e+101">
              <a:srgbClr val="000000">
                <a:alpha val="2.2000000000000003e+10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4041648"/>
            <a:ext cx="64008" cy="1234440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418795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9FF"/>
                </a:solidFill>
              </a:rPr>
              <a:t>PY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9616" y="418795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Backend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15568" y="4608576"/>
            <a:ext cx="275234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Python 3 using http.server + socketserver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26280" y="4041648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3.8433669984288512e+90" dist="1.9216834992144256e+90" dir="5.9229766729020215e+106">
              <a:srgbClr val="000000">
                <a:alpha val="2.2000000000000003e+109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26280" y="4041648"/>
            <a:ext cx="64008" cy="1234440"/>
          </a:xfrm>
          <a:prstGeom prst="rect">
            <a:avLst/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7448" y="418795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D4C6"/>
                </a:solidFill>
              </a:rPr>
              <a:t>API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11496" y="418795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Communication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27448" y="4608576"/>
            <a:ext cx="275234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HTTP + REST-style APIs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GET /api/status • GET /api/logs • POST /api/logs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38160" y="4041648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4.8810760880046414e+94" dist="2.4405380440023207e+94" dir="3.553786003741213e+111">
              <a:srgbClr val="000000">
                <a:alpha val="2.2000000000000003e+114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38160" y="4041648"/>
            <a:ext cx="64008" cy="1234440"/>
          </a:xfrm>
          <a:prstGeom prst="rect">
            <a:avLst/>
          </a:prstGeom>
          <a:solidFill>
            <a:srgbClr val="5FE0A0"/>
          </a:solidFill>
          <a:ln w="12700">
            <a:solidFill>
              <a:srgbClr val="5FE0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39328" y="418795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E0A0"/>
                </a:solidFill>
              </a:rPr>
              <a:t>UI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723376" y="418795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Visualization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339328" y="4608576"/>
            <a:ext cx="275234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HTML5 + CSS3 + vanilla JavaScript + Canvas charts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66928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8397"/>
                </a:solidFill>
              </a:rPr>
              <a:t>Project basis: README — architecture, technology stack and API endpoints.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End-to-End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B"/>
                </a:solidFill>
              </a:rPr>
              <a:t>What happens to a security event inside the system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4416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</a:rPr>
              <a:t>WORKFLOW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1527048" cy="1298448"/>
          </a:xfrm>
          <a:prstGeom prst="roundRect">
            <a:avLst>
              <a:gd name="adj" fmla="val 4225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773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54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79222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Log Collection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" y="2231136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Receive event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066544" y="2148840"/>
            <a:ext cx="109728" cy="256032"/>
          </a:xfrm>
          <a:prstGeom prst="chevron">
            <a:avLst/>
          </a:prstGeom>
          <a:solidFill>
            <a:srgbClr val="24405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1664208"/>
            <a:ext cx="1527048" cy="1298448"/>
          </a:xfrm>
          <a:prstGeom prst="roundRect">
            <a:avLst>
              <a:gd name="adj" fmla="val 4225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04288" y="1773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179222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Normalization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04288" y="2231136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Common structure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758184" y="2148840"/>
            <a:ext cx="109728" cy="256032"/>
          </a:xfrm>
          <a:prstGeom prst="chevron">
            <a:avLst/>
          </a:prstGeom>
          <a:solidFill>
            <a:srgbClr val="24405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1664208"/>
            <a:ext cx="1527048" cy="1298448"/>
          </a:xfrm>
          <a:prstGeom prst="roundRect">
            <a:avLst>
              <a:gd name="adj" fmla="val 4225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95928" y="1773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677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43400" y="179222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Detection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95928" y="2231136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Apply rules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449824" y="2148840"/>
            <a:ext cx="109728" cy="256032"/>
          </a:xfrm>
          <a:prstGeom prst="chevron">
            <a:avLst/>
          </a:prstGeom>
          <a:solidFill>
            <a:srgbClr val="24405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1664208"/>
            <a:ext cx="1527048" cy="1298448"/>
          </a:xfrm>
          <a:prstGeom prst="roundRect">
            <a:avLst>
              <a:gd name="adj" fmla="val 4225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1773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D4C6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35040" y="179222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Correlation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87568" y="2231136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Time + context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7141464" y="2148840"/>
            <a:ext cx="109728" cy="256032"/>
          </a:xfrm>
          <a:prstGeom prst="chevron">
            <a:avLst/>
          </a:prstGeom>
          <a:solidFill>
            <a:srgbClr val="24405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69480" y="1664208"/>
            <a:ext cx="1527048" cy="1298448"/>
          </a:xfrm>
          <a:prstGeom prst="roundRect">
            <a:avLst>
              <a:gd name="adj" fmla="val 4225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79208" y="1773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454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26680" y="179222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Alert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79208" y="2231136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Severity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833104" y="2148840"/>
            <a:ext cx="109728" cy="256032"/>
          </a:xfrm>
          <a:prstGeom prst="chevron">
            <a:avLst/>
          </a:prstGeom>
          <a:solidFill>
            <a:srgbClr val="24405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0" y="1664208"/>
            <a:ext cx="1527048" cy="1298448"/>
          </a:xfrm>
          <a:prstGeom prst="roundRect">
            <a:avLst>
              <a:gd name="adj" fmla="val 4225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70848" y="1773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E0A0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418320" y="179222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Incident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070848" y="2231136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Analyst review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10524744" y="2148840"/>
            <a:ext cx="109728" cy="256032"/>
          </a:xfrm>
          <a:prstGeom prst="chevron">
            <a:avLst/>
          </a:prstGeom>
          <a:solidFill>
            <a:srgbClr val="24405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52760" y="1664208"/>
            <a:ext cx="1527048" cy="1298448"/>
          </a:xfrm>
          <a:prstGeom prst="roundRect">
            <a:avLst>
              <a:gd name="adj" fmla="val 4225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62488" y="1773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A9FF"/>
                </a:solidFill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109960" y="179222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Audit Report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762488" y="2231136"/>
            <a:ext cx="1307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JSON / CSV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960120" y="3456432"/>
            <a:ext cx="10195560" cy="1408176"/>
          </a:xfrm>
          <a:prstGeom prst="roundRect">
            <a:avLst>
              <a:gd name="adj" fmla="val 5195"/>
            </a:avLst>
          </a:prstGeom>
          <a:solidFill>
            <a:srgbClr val="12243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07008" y="36758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D4C6"/>
                </a:solidFill>
              </a:rPr>
              <a:t>Concrete example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0" y="365760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Failed login → failed login → failed login → failed login → failed login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207008" y="4096512"/>
            <a:ext cx="9646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If the same source produces 5+ failed logins within 60 seconds, the current rule raises a brute-force alert.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965960" y="5303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E0A0"/>
                </a:solidFill>
              </a:rPr>
              <a:t>Result → Critical Alert + incident visible in the dashboard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66928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8397"/>
                </a:solidFill>
              </a:rPr>
              <a:t>Project basis: README — project workflow and brute-force detection condition.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Key Features Implemented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B"/>
                </a:solidFill>
              </a:rPr>
              <a:t>What the demonstrable version already contains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4416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</a:rPr>
              <a:t>FEATURES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5239512" cy="841248"/>
          </a:xfrm>
          <a:prstGeom prst="roundRect">
            <a:avLst>
              <a:gd name="adj" fmla="val 6522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54480"/>
            <a:ext cx="64008" cy="841248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6733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7FB"/>
                </a:solidFill>
              </a:rPr>
              <a:t>Multi-source log ingestion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90088" y="166420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ACB"/>
                </a:solidFill>
              </a:rPr>
              <a:t>Endpoints, servers, firewalls and web applications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239512" cy="841248"/>
          </a:xfrm>
          <a:prstGeom prst="roundRect">
            <a:avLst>
              <a:gd name="adj" fmla="val 6522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554480"/>
            <a:ext cx="64008" cy="841248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6733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7FB"/>
                </a:solidFill>
              </a:rPr>
              <a:t>Live log stream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41080" y="166420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ACB"/>
                </a:solidFill>
              </a:rPr>
              <a:t>Search, source/severity filters, pause/resume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658368" y="2606040"/>
            <a:ext cx="5239512" cy="841248"/>
          </a:xfrm>
          <a:prstGeom prst="roundRect">
            <a:avLst>
              <a:gd name="adj" fmla="val 6522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606040"/>
            <a:ext cx="64008" cy="841248"/>
          </a:xfrm>
          <a:prstGeom prst="rect">
            <a:avLst/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27249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7FB"/>
                </a:solidFill>
              </a:rPr>
              <a:t>Threat correlation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90088" y="271576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ACB"/>
                </a:solidFill>
              </a:rPr>
              <a:t>Sliding time windows for stateful analysis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6309360" y="2606040"/>
            <a:ext cx="5239512" cy="841248"/>
          </a:xfrm>
          <a:prstGeom prst="roundRect">
            <a:avLst>
              <a:gd name="adj" fmla="val 6522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606040"/>
            <a:ext cx="64008" cy="841248"/>
          </a:xfrm>
          <a:prstGeom prst="rect">
            <a:avLst/>
          </a:prstGeom>
          <a:solidFill>
            <a:srgbClr val="FF6677"/>
          </a:solidFill>
          <a:ln w="12700">
            <a:solidFill>
              <a:srgbClr val="FF66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27249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7FB"/>
                </a:solidFill>
              </a:rPr>
              <a:t>Detection rules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41080" y="271576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ACB"/>
                </a:solidFill>
              </a:rPr>
              <a:t>Brute force, SQLi, port scan, path traversal, privilege escalation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658368" y="3657600"/>
            <a:ext cx="5239512" cy="841248"/>
          </a:xfrm>
          <a:prstGeom prst="roundRect">
            <a:avLst>
              <a:gd name="adj" fmla="val 6522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657600"/>
            <a:ext cx="64008" cy="841248"/>
          </a:xfrm>
          <a:prstGeom prst="rect">
            <a:avLst/>
          </a:prstGeom>
          <a:solidFill>
            <a:srgbClr val="5FE0A0"/>
          </a:solidFill>
          <a:ln w="12700">
            <a:solidFill>
              <a:srgbClr val="5FE0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3776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7FB"/>
                </a:solidFill>
              </a:rPr>
              <a:t>SOC dashboard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990088" y="376732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ACB"/>
                </a:solidFill>
              </a:rPr>
              <a:t>Threat metrics, charts, attacker rankings, incidents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6309360" y="3657600"/>
            <a:ext cx="5239512" cy="841248"/>
          </a:xfrm>
          <a:prstGeom prst="roundRect">
            <a:avLst>
              <a:gd name="adj" fmla="val 6522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657600"/>
            <a:ext cx="64008" cy="841248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37764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7FB"/>
                </a:solidFill>
              </a:rPr>
              <a:t>Attack Console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641080" y="376732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ACB"/>
                </a:solidFill>
              </a:rPr>
              <a:t>Controlled scenarios to validate detection logic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658368" y="4709160"/>
            <a:ext cx="5239512" cy="841248"/>
          </a:xfrm>
          <a:prstGeom prst="roundRect">
            <a:avLst>
              <a:gd name="adj" fmla="val 6522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4709160"/>
            <a:ext cx="64008" cy="841248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48280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7FB"/>
                </a:solidFill>
              </a:rPr>
              <a:t>Rule management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990088" y="481888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ACB"/>
                </a:solidFill>
              </a:rPr>
              <a:t>Review and manage detection logic from UI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6309360" y="4709160"/>
            <a:ext cx="5239512" cy="841248"/>
          </a:xfrm>
          <a:prstGeom prst="roundRect">
            <a:avLst>
              <a:gd name="adj" fmla="val 6522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4709160"/>
            <a:ext cx="64008" cy="841248"/>
          </a:xfrm>
          <a:prstGeom prst="rect">
            <a:avLst/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48280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7FB"/>
                </a:solidFill>
              </a:rPr>
              <a:t>Audit reports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641080" y="481888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ACB"/>
                </a:solidFill>
              </a:rPr>
              <a:t>Export security activity in JSON and CSV</a:t>
            </a:r>
            <a:endParaRPr lang="en-US" sz="910" dirty="0"/>
          </a:p>
        </p:txBody>
      </p:sp>
      <p:sp>
        <p:nvSpPr>
          <p:cNvPr id="38" name="Text 36"/>
          <p:cNvSpPr/>
          <p:nvPr/>
        </p:nvSpPr>
        <p:spPr>
          <a:xfrm>
            <a:off x="566928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8397"/>
                </a:solidFill>
              </a:rPr>
              <a:t>Project basis: README — features and dashboard capabilities.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Threat Detection Rules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B"/>
                </a:solidFill>
              </a:rPr>
              <a:t>Current rule-based detections in the implemented prototype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4416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</a:rPr>
              <a:t>DETECTION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10972800" cy="566928"/>
          </a:xfrm>
          <a:prstGeom prst="roundRect">
            <a:avLst>
              <a:gd name="adj" fmla="val 6452"/>
            </a:avLst>
          </a:prstGeom>
          <a:solidFill>
            <a:srgbClr val="12243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00784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9BACB"/>
                </a:solidFill>
              </a:rPr>
              <a:t>THREAT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852928" y="1700784"/>
            <a:ext cx="6309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9BACB"/>
                </a:solidFill>
              </a:rPr>
              <a:t>DETECTION CONDITION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738360" y="170078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BACB"/>
                </a:solidFill>
              </a:rPr>
              <a:t>SEVERITY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58368" y="2176272"/>
            <a:ext cx="10972800" cy="530352"/>
          </a:xfrm>
          <a:prstGeom prst="roundRect">
            <a:avLst>
              <a:gd name="adj" fmla="val 5172"/>
            </a:avLst>
          </a:prstGeom>
          <a:solidFill>
            <a:srgbClr val="0F1C2D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317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4F7FB"/>
                </a:solidFill>
              </a:rPr>
              <a:t>SSH/Auth Brute Force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52928" y="23134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A9BACB"/>
                </a:solidFill>
              </a:rPr>
              <a:t>5+ failed logins within 60 seconds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9829800" y="2304288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FF6677"/>
          </a:solidFill>
          <a:ln w="12700">
            <a:solidFill>
              <a:srgbClr val="FF66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29800" y="235915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11F"/>
                </a:solidFill>
              </a:rPr>
              <a:t>Critical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8368" y="2862072"/>
            <a:ext cx="10972800" cy="530352"/>
          </a:xfrm>
          <a:prstGeom prst="roundRect">
            <a:avLst>
              <a:gd name="adj" fmla="val 5172"/>
            </a:avLst>
          </a:prstGeom>
          <a:solidFill>
            <a:srgbClr val="0C1726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0175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4F7FB"/>
                </a:solidFill>
              </a:rPr>
              <a:t>SQL Injection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52928" y="29992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A9BACB"/>
                </a:solidFill>
              </a:rPr>
              <a:t>SQLi indicators such as “OR 1=1” or “UNION SELECT”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9829800" y="2990088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29800" y="304495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11F"/>
                </a:solidFill>
              </a:rPr>
              <a:t>High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" y="3547872"/>
            <a:ext cx="10972800" cy="530352"/>
          </a:xfrm>
          <a:prstGeom prst="roundRect">
            <a:avLst>
              <a:gd name="adj" fmla="val 5172"/>
            </a:avLst>
          </a:prstGeom>
          <a:solidFill>
            <a:srgbClr val="0F1C2D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7033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4F7FB"/>
                </a:solidFill>
              </a:rPr>
              <a:t>Port Scanning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52928" y="36850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A9BACB"/>
                </a:solidFill>
              </a:rPr>
              <a:t>15+ dropped ports probed by an attacker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9829800" y="3675888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29800" y="373075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11F"/>
                </a:solidFill>
              </a:rPr>
              <a:t>High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8368" y="4233672"/>
            <a:ext cx="10972800" cy="530352"/>
          </a:xfrm>
          <a:prstGeom prst="roundRect">
            <a:avLst>
              <a:gd name="adj" fmla="val 5172"/>
            </a:avLst>
          </a:prstGeom>
          <a:solidFill>
            <a:srgbClr val="0C1726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3891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4F7FB"/>
                </a:solidFill>
              </a:rPr>
              <a:t>Path Traversal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852928" y="43708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A9BACB"/>
                </a:solidFill>
              </a:rPr>
              <a:t>Traversal patterns such as ../../etc/passwd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9829800" y="4361688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441655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11F"/>
                </a:solidFill>
              </a:rPr>
              <a:t>Medium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8368" y="4919472"/>
            <a:ext cx="10972800" cy="530352"/>
          </a:xfrm>
          <a:prstGeom prst="roundRect">
            <a:avLst>
              <a:gd name="adj" fmla="val 5172"/>
            </a:avLst>
          </a:prstGeom>
          <a:solidFill>
            <a:srgbClr val="0F1C2D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0749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4F7FB"/>
                </a:solidFill>
              </a:rPr>
              <a:t>Privilege Escalation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852928" y="505663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A9BACB"/>
                </a:solidFill>
              </a:rPr>
              <a:t>Suspicious / unauthorized sudo activity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9829800" y="5047488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29800" y="510235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11F"/>
                </a:solidFill>
              </a:rPr>
              <a:t>High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05840" y="5724144"/>
            <a:ext cx="10241280" cy="438912"/>
          </a:xfrm>
          <a:prstGeom prst="roundRect">
            <a:avLst>
              <a:gd name="adj" fmla="val 8333"/>
            </a:avLst>
          </a:prstGeom>
          <a:solidFill>
            <a:srgbClr val="12243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70432" y="5861304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4F7FB"/>
                </a:solidFill>
              </a:rPr>
              <a:t>Rule-based detection = transparent, explainable and easy to demonstrate; it is also a current limitation for unknown/anomalous threats.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566928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8397"/>
                </a:solidFill>
              </a:rPr>
              <a:t>Project basis: README — threat detection rules and current limitations.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Technology Stack &amp; Why We Used 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B"/>
                </a:solidFill>
              </a:rPr>
              <a:t>Simple, lightweight technologies for a student-scale SOC prototype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4416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</a:rPr>
              <a:t>TECH STACK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13232" y="1554480"/>
            <a:ext cx="5166360" cy="758952"/>
          </a:xfrm>
          <a:prstGeom prst="roundRect">
            <a:avLst>
              <a:gd name="adj" fmla="val 6024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82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B454"/>
                </a:solidFill>
              </a:rPr>
              <a:t>HTML5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0" y="167335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Structure of dashboard and views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245352" y="1554480"/>
            <a:ext cx="5166360" cy="758952"/>
          </a:xfrm>
          <a:prstGeom prst="roundRect">
            <a:avLst>
              <a:gd name="adj" fmla="val 6024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682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AA9FF"/>
                </a:solidFill>
              </a:rPr>
              <a:t>CSS3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75320" y="167335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Dashboard styling and layout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13232" y="2532888"/>
            <a:ext cx="5166360" cy="758952"/>
          </a:xfrm>
          <a:prstGeom prst="roundRect">
            <a:avLst>
              <a:gd name="adj" fmla="val 6024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660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1D4C6"/>
                </a:solidFill>
              </a:rPr>
              <a:t>Vanilla JavaScript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43200" y="26517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Event processing, correlation, UI logic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245352" y="2532888"/>
            <a:ext cx="5166360" cy="758952"/>
          </a:xfrm>
          <a:prstGeom prst="roundRect">
            <a:avLst>
              <a:gd name="adj" fmla="val 6024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6609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FE0A0"/>
                </a:solidFill>
              </a:rPr>
              <a:t>Python 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75320" y="26517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Backend server and log ingestion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13232" y="3511296"/>
            <a:ext cx="5166360" cy="758952"/>
          </a:xfrm>
          <a:prstGeom prst="roundRect">
            <a:avLst>
              <a:gd name="adj" fmla="val 6024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639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B454"/>
                </a:solidFill>
              </a:rPr>
              <a:t>REST-style HTTP APIs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43200" y="36301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Submit/fetch events and status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245352" y="3511296"/>
            <a:ext cx="5166360" cy="758952"/>
          </a:xfrm>
          <a:prstGeom prst="roundRect">
            <a:avLst>
              <a:gd name="adj" fmla="val 6024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3639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6677"/>
                </a:solidFill>
              </a:rPr>
              <a:t>Canvas Charts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75320" y="36301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Security metrics &amp; visualizations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13232" y="4489704"/>
            <a:ext cx="5166360" cy="758952"/>
          </a:xfrm>
          <a:prstGeom prst="roundRect">
            <a:avLst>
              <a:gd name="adj" fmla="val 6024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617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AA9FF"/>
                </a:solidFill>
              </a:rPr>
              <a:t>Git / GitHub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743200" y="460857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Version control and collaboration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6245352" y="4489704"/>
            <a:ext cx="5166360" cy="758952"/>
          </a:xfrm>
          <a:prstGeom prst="roundRect">
            <a:avLst>
              <a:gd name="adj" fmla="val 6024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4617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1D4C6"/>
                </a:solidFill>
              </a:rPr>
              <a:t>VS Code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75320" y="460857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Development environment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1097280" y="55961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Design principle: keep the architecture understandable enough to explain, test and extend.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8397"/>
                </a:solidFill>
              </a:rPr>
              <a:t>Project basis: README — technology stack and architecture.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Implementation / Execution Demo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B"/>
                </a:solidFill>
              </a:rPr>
              <a:t>Recommended live-demo sequence for the 15-mark implementation criterion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4416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</a:rPr>
              <a:t>DEMO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" y="1508760"/>
            <a:ext cx="5257800" cy="886968"/>
          </a:xfrm>
          <a:prstGeom prst="roundRect">
            <a:avLst>
              <a:gd name="adj" fmla="val 6186"/>
            </a:avLst>
          </a:prstGeom>
          <a:solidFill>
            <a:srgbClr val="0F1C2D"/>
          </a:solidFill>
          <a:ln w="14605">
            <a:solidFill>
              <a:srgbClr val="5AA9FF"/>
            </a:solidFill>
            <a:prstDash val="solid"/>
          </a:ln>
          <a:effectLst>
            <a:outerShdw sx="100000" sy="100000" kx="0" ky="0" algn="bl" rotWithShape="0" blurRad="6.198966631765894e+98" dist="3.099483315882947e+98" dir="2.1322716022447277e+116">
              <a:srgbClr val="000000">
                <a:alpha val="2.2000000000000005e+119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7099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A9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08176" y="165506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4F7FB"/>
                </a:solidFill>
              </a:rPr>
              <a:t>Start backend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2898648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ACB"/>
                </a:solidFill>
              </a:rPr>
              <a:t>python server/server.py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6236208" y="1508760"/>
            <a:ext cx="5257800" cy="886968"/>
          </a:xfrm>
          <a:prstGeom prst="roundRect">
            <a:avLst>
              <a:gd name="adj" fmla="val 6186"/>
            </a:avLst>
          </a:prstGeom>
          <a:solidFill>
            <a:srgbClr val="0F1C2D"/>
          </a:solidFill>
          <a:ln w="14605">
            <a:solidFill>
              <a:srgbClr val="21D4C6"/>
            </a:solidFill>
            <a:prstDash val="solid"/>
          </a:ln>
          <a:effectLst>
            <a:outerShdw sx="100000" sy="100000" kx="0" ky="0" algn="bl" rotWithShape="0" blurRad="7.872687622342685e+102" dist="3.9363438111713427e+102" dir="1.2793629613468366e+121">
              <a:srgbClr val="000000">
                <a:alpha val="2.2000000000000006e+12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19088" y="17099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D4C6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86016" y="165506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4F7FB"/>
                </a:solidFill>
              </a:rPr>
              <a:t>Open dashboard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8476488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ACB"/>
                </a:solidFill>
              </a:rPr>
              <a:t>http://localhost:8000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658368" y="2633472"/>
            <a:ext cx="5257800" cy="886968"/>
          </a:xfrm>
          <a:prstGeom prst="roundRect">
            <a:avLst>
              <a:gd name="adj" fmla="val 6186"/>
            </a:avLst>
          </a:prstGeom>
          <a:solidFill>
            <a:srgbClr val="0F1C2D"/>
          </a:solidFill>
          <a:ln w="14605">
            <a:solidFill>
              <a:srgbClr val="FFB454"/>
            </a:solidFill>
            <a:prstDash val="solid"/>
          </a:ln>
          <a:effectLst>
            <a:outerShdw sx="100000" sy="100000" kx="0" ky="0" algn="bl" rotWithShape="0" blurRad="9.998313280375211e+106" dist="4.9991566401876055e+106" dir="7.67617776808102e+125">
              <a:srgbClr val="000000">
                <a:alpha val="2.2000000000000006e+129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28346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454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08176" y="277977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4F7FB"/>
                </a:solidFill>
              </a:rPr>
              <a:t>Show live logs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2898648" y="2788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ACB"/>
                </a:solidFill>
              </a:rPr>
              <a:t>Live Log Stream + filters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6236208" y="2633472"/>
            <a:ext cx="5257800" cy="886968"/>
          </a:xfrm>
          <a:prstGeom prst="roundRect">
            <a:avLst>
              <a:gd name="adj" fmla="val 6186"/>
            </a:avLst>
          </a:prstGeom>
          <a:solidFill>
            <a:srgbClr val="0F1C2D"/>
          </a:solidFill>
          <a:ln w="14605">
            <a:solidFill>
              <a:srgbClr val="FF6677"/>
            </a:solidFill>
            <a:prstDash val="solid"/>
          </a:ln>
          <a:effectLst>
            <a:outerShdw sx="100000" sy="100000" kx="0" ky="0" algn="bl" rotWithShape="0" blurRad="1.2697857866076517e+111" dist="6.348928933038258e+110" dir="4.605706660848612e+130">
              <a:srgbClr val="000000">
                <a:alpha val="2.2000000000000004e+134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19088" y="28346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677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86016" y="277977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4F7FB"/>
                </a:solidFill>
              </a:rPr>
              <a:t>Trigger test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8476488" y="27889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ACB"/>
                </a:solidFill>
              </a:rPr>
              <a:t>Attack Console: brute force / SQLi / port scan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658368" y="3758184"/>
            <a:ext cx="5257800" cy="886968"/>
          </a:xfrm>
          <a:prstGeom prst="roundRect">
            <a:avLst>
              <a:gd name="adj" fmla="val 6186"/>
            </a:avLst>
          </a:prstGeom>
          <a:solidFill>
            <a:srgbClr val="0F1C2D"/>
          </a:solidFill>
          <a:ln w="14605">
            <a:solidFill>
              <a:srgbClr val="FFB454"/>
            </a:solidFill>
            <a:prstDash val="solid"/>
          </a:ln>
          <a:effectLst>
            <a:outerShdw sx="100000" sy="100000" kx="0" ky="0" algn="bl" rotWithShape="0" blurRad="1.6126279489917177e+115" dist="8.063139744958588e+114" dir="2.763423996509167e+135">
              <a:srgbClr val="000000">
                <a:alpha val="2.2000000000000005e+139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" y="395935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454"/>
                </a:solidFill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08176" y="390448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4F7FB"/>
                </a:solidFill>
              </a:rPr>
              <a:t>Observe detection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2898648" y="39136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ACB"/>
                </a:solidFill>
              </a:rPr>
              <a:t>Alert appears with severity</a:t>
            </a:r>
            <a:endParaRPr lang="en-US" sz="910" dirty="0"/>
          </a:p>
        </p:txBody>
      </p:sp>
      <p:sp>
        <p:nvSpPr>
          <p:cNvPr id="26" name="Shape 24"/>
          <p:cNvSpPr/>
          <p:nvPr/>
        </p:nvSpPr>
        <p:spPr>
          <a:xfrm>
            <a:off x="6236208" y="3758184"/>
            <a:ext cx="5257800" cy="886968"/>
          </a:xfrm>
          <a:prstGeom prst="roundRect">
            <a:avLst>
              <a:gd name="adj" fmla="val 6186"/>
            </a:avLst>
          </a:prstGeom>
          <a:solidFill>
            <a:srgbClr val="0F1C2D"/>
          </a:solidFill>
          <a:ln w="14605">
            <a:solidFill>
              <a:srgbClr val="5FE0A0"/>
            </a:solidFill>
            <a:prstDash val="solid"/>
          </a:ln>
          <a:effectLst>
            <a:outerShdw sx="100000" sy="100000" kx="0" ky="0" algn="bl" rotWithShape="0" blurRad="2.0480374952194813e+119" dist="1.0240187476097407e+119" dir="1.6580543979055002e+140">
              <a:srgbClr val="000000">
                <a:alpha val="2.2000000000000006e+144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19088" y="395935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E0A0"/>
                </a:solidFill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86016" y="390448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4F7FB"/>
                </a:solidFill>
              </a:rPr>
              <a:t>Open incident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8476488" y="39136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ACB"/>
                </a:solidFill>
              </a:rPr>
              <a:t>Threat Incidents / Alert Triage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658368" y="4882896"/>
            <a:ext cx="5257800" cy="886968"/>
          </a:xfrm>
          <a:prstGeom prst="roundRect">
            <a:avLst>
              <a:gd name="adj" fmla="val 6186"/>
            </a:avLst>
          </a:prstGeom>
          <a:solidFill>
            <a:srgbClr val="0F1C2D"/>
          </a:solidFill>
          <a:ln w="14605">
            <a:solidFill>
              <a:srgbClr val="5AA9FF"/>
            </a:solidFill>
            <a:prstDash val="solid"/>
          </a:ln>
          <a:effectLst>
            <a:outerShdw sx="100000" sy="100000" kx="0" ky="0" algn="bl" rotWithShape="0" blurRad="2.6010076189287412e+123" dist="1.3005038094643706e+123" dir="9.948326387433002e+144">
              <a:srgbClr val="000000">
                <a:alpha val="2.2000000000000004e+149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41248" y="508406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A9FF"/>
                </a:solidFill>
              </a:rPr>
              <a:t>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08176" y="502920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4F7FB"/>
                </a:solidFill>
              </a:rPr>
              <a:t>Export report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2898648" y="503834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A9BACB"/>
                </a:solidFill>
              </a:rPr>
              <a:t>Audit Report → JSON / CSV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1920240" y="5239512"/>
            <a:ext cx="8321040" cy="585216"/>
          </a:xfrm>
          <a:prstGeom prst="roundRect">
            <a:avLst>
              <a:gd name="adj" fmla="val 9375"/>
            </a:avLst>
          </a:prstGeom>
          <a:solidFill>
            <a:srgbClr val="12243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544068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D4C6"/>
                </a:solidFill>
              </a:rPr>
              <a:t>Best demo story: “One suspicious event becomes one actionable incident.”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8397"/>
                </a:solidFill>
              </a:rPr>
              <a:t>Project basis: README — run steps, dashboard views, attack console and report export.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Team Members &amp; Work Distribution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B"/>
                </a:solidFill>
              </a:rPr>
              <a:t>Presentation-ready responsibility split across the implementation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4416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</a:rPr>
              <a:t>TEAM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11018520" cy="502920"/>
          </a:xfrm>
          <a:prstGeom prst="roundRect">
            <a:avLst>
              <a:gd name="adj" fmla="val 5455"/>
            </a:avLst>
          </a:prstGeom>
          <a:solidFill>
            <a:srgbClr val="12243A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36776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9BACB"/>
                </a:solidFill>
              </a:rPr>
              <a:t>Member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931920" y="163677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9BACB"/>
                </a:solidFill>
              </a:rPr>
              <a:t>Roll No.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32120" y="163677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9BACB"/>
                </a:solidFill>
              </a:rPr>
              <a:t>Section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37960" y="163677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9BACB"/>
                </a:solidFill>
              </a:rPr>
              <a:t>Primary Role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66760" y="163677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9BACB"/>
                </a:solidFill>
              </a:rPr>
              <a:t>Project Contribution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4360" y="2084832"/>
            <a:ext cx="11018520" cy="566928"/>
          </a:xfrm>
          <a:prstGeom prst="roundRect">
            <a:avLst>
              <a:gd name="adj" fmla="val 4839"/>
            </a:avLst>
          </a:prstGeom>
          <a:solidFill>
            <a:srgbClr val="0F1C2D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58568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Priyam Srivastava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2258568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2415001197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5532120" y="2258568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SD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537960" y="2231136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286000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11F"/>
                </a:solidFill>
              </a:rPr>
              <a:t>TEAM LEADER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66760" y="22037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Coordination • architecture • backend/integration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2798064"/>
            <a:ext cx="11018520" cy="566928"/>
          </a:xfrm>
          <a:prstGeom prst="roundRect">
            <a:avLst>
              <a:gd name="adj" fmla="val 4839"/>
            </a:avLst>
          </a:prstGeom>
          <a:solidFill>
            <a:srgbClr val="0C1726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2971800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Rajat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0" y="2971800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2415001255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5532120" y="2971800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SB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537960" y="2944368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999232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11F"/>
                </a:solidFill>
              </a:rPr>
              <a:t>Frontend &amp; Documentation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366760" y="29169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SOC dashboard • UI/UX • reports • presentation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3511296"/>
            <a:ext cx="11018520" cy="566928"/>
          </a:xfrm>
          <a:prstGeom prst="roundRect">
            <a:avLst>
              <a:gd name="adj" fmla="val 4839"/>
            </a:avLst>
          </a:prstGeom>
          <a:solidFill>
            <a:srgbClr val="0F1C2D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3685032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Nishant Yadav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3685032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2415001047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5532120" y="368503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CC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537960" y="3657600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712464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11F"/>
                </a:solidFill>
              </a:rPr>
              <a:t>Log Pipeline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366760" y="36301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Log ingestion • normalization • API testing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" y="4224528"/>
            <a:ext cx="11018520" cy="566928"/>
          </a:xfrm>
          <a:prstGeom prst="roundRect">
            <a:avLst>
              <a:gd name="adj" fmla="val 4839"/>
            </a:avLst>
          </a:prstGeom>
          <a:solidFill>
            <a:srgbClr val="0C1726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4398264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Jayprakash Singh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0" y="4398264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2415000729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5532120" y="4398264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GA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6537960" y="4370832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FF6677"/>
          </a:solidFill>
          <a:ln w="12700">
            <a:solidFill>
              <a:srgbClr val="FF66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425696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11F"/>
                </a:solidFill>
              </a:rPr>
              <a:t>Detection &amp; Correlation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366760" y="43434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Detection rules • correlation logic • alert triage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4360" y="4937760"/>
            <a:ext cx="11018520" cy="566928"/>
          </a:xfrm>
          <a:prstGeom prst="roundRect">
            <a:avLst>
              <a:gd name="adj" fmla="val 4839"/>
            </a:avLst>
          </a:prstGeom>
          <a:solidFill>
            <a:srgbClr val="0F1C2D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111496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4F7FB"/>
                </a:solidFill>
              </a:rPr>
              <a:t>Lucky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931920" y="5111496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2415000901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5532120" y="5111496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9BACB"/>
                </a:solidFill>
              </a:rPr>
              <a:t>GA</a:t>
            </a:r>
            <a:endParaRPr lang="en-US" sz="920" dirty="0"/>
          </a:p>
        </p:txBody>
      </p:sp>
      <p:sp>
        <p:nvSpPr>
          <p:cNvPr id="44" name="Shape 42"/>
          <p:cNvSpPr/>
          <p:nvPr/>
        </p:nvSpPr>
        <p:spPr>
          <a:xfrm>
            <a:off x="6537960" y="5084064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5FE0A0"/>
          </a:solidFill>
          <a:ln w="12700">
            <a:solidFill>
              <a:srgbClr val="5FE0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5138928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11F"/>
                </a:solidFill>
              </a:rPr>
              <a:t>Testing &amp; Visualization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366760" y="50566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Attack simulator • charts • test scenarios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51560" y="5961888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i="1" dirty="0">
                <a:solidFill>
                  <a:srgbClr val="7F94A8"/>
                </a:solidFill>
              </a:rPr>
              <a:t>Use this as the team-introduction slide. Adjust the role labels if your actual contribution split differs.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Testing &amp;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B"/>
                </a:solidFill>
              </a:rPr>
              <a:t>Detection scenarios verified in the project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4416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</a:rPr>
              <a:t>RESULTS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60120" y="1572768"/>
            <a:ext cx="10012680" cy="530352"/>
          </a:xfrm>
          <a:prstGeom prst="roundRect">
            <a:avLst>
              <a:gd name="adj" fmla="val 5172"/>
            </a:avLst>
          </a:prstGeom>
          <a:solidFill>
            <a:srgbClr val="0F1C2D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728216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4F7FB"/>
                </a:solidFill>
              </a:rPr>
              <a:t>SSH Brute Force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434840" y="1728216"/>
            <a:ext cx="4206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A9BACB"/>
                </a:solidFill>
              </a:rPr>
              <a:t>Critical Alert + Incident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9582912" y="1700784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5FE0A0"/>
          </a:solidFill>
          <a:ln w="12700">
            <a:solidFill>
              <a:srgbClr val="5FE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82912" y="1755648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11F"/>
                </a:solidFill>
              </a:rPr>
              <a:t>PASSED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60120" y="2267712"/>
            <a:ext cx="10012680" cy="530352"/>
          </a:xfrm>
          <a:prstGeom prst="roundRect">
            <a:avLst>
              <a:gd name="adj" fmla="val 5172"/>
            </a:avLst>
          </a:prstGeom>
          <a:solidFill>
            <a:srgbClr val="0C1726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2423160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4F7FB"/>
                </a:solidFill>
              </a:rPr>
              <a:t>SQL Injection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434840" y="2423160"/>
            <a:ext cx="4206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A9BACB"/>
                </a:solidFill>
              </a:rPr>
              <a:t>High Alert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9582912" y="2395728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5FE0A0"/>
          </a:solidFill>
          <a:ln w="12700">
            <a:solidFill>
              <a:srgbClr val="5FE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2912" y="2450592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11F"/>
                </a:solidFill>
              </a:rPr>
              <a:t>PASSED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60120" y="2962656"/>
            <a:ext cx="10012680" cy="530352"/>
          </a:xfrm>
          <a:prstGeom prst="roundRect">
            <a:avLst>
              <a:gd name="adj" fmla="val 5172"/>
            </a:avLst>
          </a:prstGeom>
          <a:solidFill>
            <a:srgbClr val="0F1C2D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3118104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4F7FB"/>
                </a:solidFill>
              </a:rPr>
              <a:t>Port Scan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434840" y="3118104"/>
            <a:ext cx="4206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A9BACB"/>
                </a:solidFill>
              </a:rPr>
              <a:t>High Alert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9582912" y="3090672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5FE0A0"/>
          </a:solidFill>
          <a:ln w="12700">
            <a:solidFill>
              <a:srgbClr val="5FE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2912" y="3145536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11F"/>
                </a:solidFill>
              </a:rPr>
              <a:t>PASSED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60120" y="3657600"/>
            <a:ext cx="10012680" cy="530352"/>
          </a:xfrm>
          <a:prstGeom prst="roundRect">
            <a:avLst>
              <a:gd name="adj" fmla="val 5172"/>
            </a:avLst>
          </a:prstGeom>
          <a:solidFill>
            <a:srgbClr val="0C1726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3813048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4F7FB"/>
                </a:solidFill>
              </a:rPr>
              <a:t>Path Traversal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4434840" y="3813048"/>
            <a:ext cx="4206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A9BACB"/>
                </a:solidFill>
              </a:rPr>
              <a:t>Medium Alert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82912" y="3785616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5FE0A0"/>
          </a:solidFill>
          <a:ln w="12700">
            <a:solidFill>
              <a:srgbClr val="5FE0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82912" y="3840480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11F"/>
                </a:solidFill>
              </a:rPr>
              <a:t>PASSED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60120" y="4352544"/>
            <a:ext cx="10012680" cy="530352"/>
          </a:xfrm>
          <a:prstGeom prst="roundRect">
            <a:avLst>
              <a:gd name="adj" fmla="val 5172"/>
            </a:avLst>
          </a:prstGeom>
          <a:solidFill>
            <a:srgbClr val="0F1C2D"/>
          </a:solidFill>
          <a:ln w="8890">
            <a:solidFill>
              <a:srgbClr val="2440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07008" y="4507992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4F7FB"/>
                </a:solidFill>
              </a:rPr>
              <a:t>Privilege Escalation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4434840" y="4507992"/>
            <a:ext cx="4206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A9BACB"/>
                </a:solidFill>
              </a:rPr>
              <a:t>High Alert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9582912" y="4480560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5FE0A0"/>
          </a:solidFill>
          <a:ln w="12700">
            <a:solidFill>
              <a:srgbClr val="5FE0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82912" y="4535424"/>
            <a:ext cx="1051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9111F"/>
                </a:solidFill>
              </a:rPr>
              <a:t>PASSED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417320" y="54406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3.303279676039501e+127" dist="1.6516398380197506e+127" dir="5.968995832459801e+149">
              <a:srgbClr val="000000">
                <a:alpha val="2.2000000000000004e+154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581912" y="5586984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FE0A0"/>
                </a:solidFill>
              </a:rPr>
              <a:t>5/5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581912" y="607161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Scenarios passed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74920" y="54406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4.195165188570166e+131" dist="2.097582594285083e+131" dir="3.581397499475881e+154">
              <a:srgbClr val="000000">
                <a:alpha val="2.2000000000000003e+159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239512" y="5586984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D4C6"/>
                </a:solidFill>
              </a:rPr>
              <a:t>0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239512" y="607161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Failed tests listed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732520" y="54406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5.327859789484111e+135" dist="2.6639298947420556e+135" dir="2.1488384996855287e+159">
              <a:srgbClr val="000000">
                <a:alpha val="2.2000000000000003e+164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897112" y="5586984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A9FF"/>
                </a:solidFill>
              </a:rPr>
              <a:t>JSON/CSV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8897112" y="607161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ACB"/>
                </a:solidFill>
              </a:rPr>
              <a:t>Report outputs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6928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8397"/>
                </a:solidFill>
              </a:rPr>
              <a:t>Project basis: README — testing &amp; results section.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Current Limitations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B"/>
                </a:solidFill>
              </a:rPr>
              <a:t>Important to present honestly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4416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</a:rPr>
              <a:t>LIMITATIONS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68096" y="1609344"/>
            <a:ext cx="10698480" cy="749808"/>
          </a:xfrm>
          <a:prstGeom prst="roundRect">
            <a:avLst>
              <a:gd name="adj" fmla="val 6098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609344"/>
            <a:ext cx="73152" cy="749808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175564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4F7FB"/>
                </a:solidFill>
              </a:rPr>
              <a:t>Memory-based log storage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3657600" y="1746504"/>
            <a:ext cx="7269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A9BACB"/>
                </a:solidFill>
              </a:rPr>
              <a:t>Recent logs are kept in memory; restart clears them.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768096" y="2569464"/>
            <a:ext cx="10698480" cy="749808"/>
          </a:xfrm>
          <a:prstGeom prst="roundRect">
            <a:avLst>
              <a:gd name="adj" fmla="val 6098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2569464"/>
            <a:ext cx="73152" cy="749808"/>
          </a:xfrm>
          <a:prstGeom prst="rect">
            <a:avLst/>
          </a:prstGeom>
          <a:solidFill>
            <a:srgbClr val="FF6677"/>
          </a:solidFill>
          <a:ln w="12700">
            <a:solidFill>
              <a:srgbClr val="FF66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7157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4F7FB"/>
                </a:solidFill>
              </a:rPr>
              <a:t>Rule-based detection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3657600" y="2706624"/>
            <a:ext cx="7269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A9BACB"/>
                </a:solidFill>
              </a:rPr>
              <a:t>Transparent and explainable, but limited for unknown/anomalous behavior.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768096" y="3529584"/>
            <a:ext cx="10698480" cy="749808"/>
          </a:xfrm>
          <a:prstGeom prst="roundRect">
            <a:avLst>
              <a:gd name="adj" fmla="val 6098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529584"/>
            <a:ext cx="73152" cy="749808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6758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4F7FB"/>
                </a:solidFill>
              </a:rPr>
              <a:t>Simulated attacks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3657600" y="3666744"/>
            <a:ext cx="7269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A9BACB"/>
                </a:solidFill>
              </a:rPr>
              <a:t>Current attack scenarios are for validation, not production response.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768096" y="4489704"/>
            <a:ext cx="10698480" cy="749808"/>
          </a:xfrm>
          <a:prstGeom prst="roundRect">
            <a:avLst>
              <a:gd name="adj" fmla="val 6098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4489704"/>
            <a:ext cx="73152" cy="749808"/>
          </a:xfrm>
          <a:prstGeom prst="rect">
            <a:avLst/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6360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4F7FB"/>
                </a:solidFill>
              </a:rPr>
              <a:t>Not enterprise-scale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3657600" y="4626864"/>
            <a:ext cx="7269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A9BACB"/>
                </a:solidFill>
              </a:rPr>
              <a:t>Designed for learning and small-scale monitoring rather than replacing a full enterprise SIEM.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914400" y="566928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D4C6"/>
                </a:solidFill>
              </a:rPr>
              <a:t>Strong viva answer: “Yes, this is a lightweight prototype; we know exactly what must be added for production use.”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8397"/>
                </a:solidFill>
              </a:rPr>
              <a:t>Project basis: README — limitations section.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Future Scope → Real-World Upgrade Path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ACB"/>
                </a:solidFill>
              </a:rPr>
              <a:t>How the prototype can become a more practical small-business SOC platform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389888" cy="256032"/>
          </a:xfrm>
          <a:prstGeom prst="roundRect">
            <a:avLst>
              <a:gd name="adj" fmla="val 21429"/>
            </a:avLst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4416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111F"/>
                </a:solidFill>
              </a:rPr>
              <a:t>FUTURE SCOPE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5138928" cy="731520"/>
          </a:xfrm>
          <a:prstGeom prst="roundRect">
            <a:avLst>
              <a:gd name="adj" fmla="val 10000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6.766381932644821e+139" dist="3.3831909663224106e+139" dir="1.2893030998113172e+164">
              <a:srgbClr val="000000">
                <a:alpha val="2.2000000000000004e+16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600200"/>
            <a:ext cx="64008" cy="731520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465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Persistent DB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167128"/>
            <a:ext cx="4736592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Logs, alerts and incidents survive restarts.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45352" y="1600200"/>
            <a:ext cx="5138928" cy="731520"/>
          </a:xfrm>
          <a:prstGeom prst="roundRect">
            <a:avLst>
              <a:gd name="adj" fmla="val 10000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8.593305054458923e+143" dist="4.296652527229462e+143" dir="7.735818598867904e+168">
              <a:srgbClr val="000000">
                <a:alpha val="2.2e+17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45352" y="1600200"/>
            <a:ext cx="64008" cy="731520"/>
          </a:xfrm>
          <a:prstGeom prst="rect">
            <a:avLst/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465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More log formats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167128"/>
            <a:ext cx="4736592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Syslog, Windows Event Logs, JSON/CEF.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9464"/>
            <a:ext cx="5138928" cy="731520"/>
          </a:xfrm>
          <a:prstGeom prst="roundRect">
            <a:avLst>
              <a:gd name="adj" fmla="val 10000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1.0913497419162833e+148" dist="5.4567487095814166e+147" dir="4.6414911593207425e+173">
              <a:srgbClr val="000000">
                <a:alpha val="2.2000000000000003e+17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569464"/>
            <a:ext cx="64008" cy="731520"/>
          </a:xfrm>
          <a:prstGeom prst="rect">
            <a:avLst/>
          </a:prstGeom>
          <a:solidFill>
            <a:srgbClr val="5FE0A0"/>
          </a:solidFill>
          <a:ln w="12700">
            <a:solidFill>
              <a:srgbClr val="5FE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7157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Auth + RBAC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136392"/>
            <a:ext cx="4736592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Analyst, admin and auditor permissions.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45352" y="2569464"/>
            <a:ext cx="5138928" cy="731520"/>
          </a:xfrm>
          <a:prstGeom prst="roundRect">
            <a:avLst>
              <a:gd name="adj" fmla="val 10000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1.38601417223368e+152" dist="6.9300708611684e+151" dir="2.7848946955924455e+178">
              <a:srgbClr val="000000">
                <a:alpha val="2.2000000000000004e+18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45352" y="2569464"/>
            <a:ext cx="64008" cy="7315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7157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Threat intelligence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3136392"/>
            <a:ext cx="4736592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IP reputation and IOC enrichment.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" y="3538728"/>
            <a:ext cx="5138928" cy="731520"/>
          </a:xfrm>
          <a:prstGeom prst="roundRect">
            <a:avLst>
              <a:gd name="adj" fmla="val 10000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1.7602379987367734e+156" dist="8.801189993683867e+155" dir="1.6709368173554673e+183">
              <a:srgbClr val="000000">
                <a:alpha val="2.2000000000000003e+18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" y="3538728"/>
            <a:ext cx="64008" cy="731520"/>
          </a:xfrm>
          <a:prstGeom prst="rect">
            <a:avLst/>
          </a:prstGeom>
          <a:solidFill>
            <a:srgbClr val="FF6677"/>
          </a:solidFill>
          <a:ln w="12700">
            <a:solidFill>
              <a:srgbClr val="FF66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6850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Notifications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105656"/>
            <a:ext cx="4736592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Configurable email alerts for critical incidents.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45352" y="3538728"/>
            <a:ext cx="5138928" cy="731520"/>
          </a:xfrm>
          <a:prstGeom prst="roundRect">
            <a:avLst>
              <a:gd name="adj" fmla="val 10000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2.235502258395702e+160" dist="1.117751129197851e+160" dir="1.0025620904132804e+188">
              <a:srgbClr val="000000">
                <a:alpha val="2.2000000000000004e+194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45352" y="3538728"/>
            <a:ext cx="64008" cy="731520"/>
          </a:xfrm>
          <a:prstGeom prst="rect">
            <a:avLst/>
          </a:prstGeom>
          <a:solidFill>
            <a:srgbClr val="5AA9FF"/>
          </a:solidFill>
          <a:ln w="12700">
            <a:solidFill>
              <a:srgbClr val="5AA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6850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Scalable pipeline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4105656"/>
            <a:ext cx="4736592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WebSockets, message queue and worker processes.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3232" y="4507992"/>
            <a:ext cx="5138928" cy="731520"/>
          </a:xfrm>
          <a:prstGeom prst="roundRect">
            <a:avLst>
              <a:gd name="adj" fmla="val 10000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2.8390878681625417e+164" dist="1.4195439340812709e+164" dir="6.015372542479682e+192">
              <a:srgbClr val="000000">
                <a:alpha val="2.2000000000000006e+199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3232" y="4507992"/>
            <a:ext cx="64008" cy="731520"/>
          </a:xfrm>
          <a:prstGeom prst="rect">
            <a:avLst/>
          </a:prstGeom>
          <a:solidFill>
            <a:srgbClr val="21D4C6"/>
          </a:solidFill>
          <a:ln w="12700">
            <a:solidFill>
              <a:srgbClr val="21D4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46542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Cloud ingestion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5074920"/>
            <a:ext cx="4736592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Centralize events from cloud services.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45352" y="4507992"/>
            <a:ext cx="5138928" cy="731520"/>
          </a:xfrm>
          <a:prstGeom prst="roundRect">
            <a:avLst>
              <a:gd name="adj" fmla="val 10000"/>
            </a:avLst>
          </a:prstGeom>
          <a:solidFill>
            <a:srgbClr val="0F1C2D"/>
          </a:solidFill>
          <a:ln w="12700">
            <a:solidFill>
              <a:srgbClr val="24405A"/>
            </a:solidFill>
            <a:prstDash val="solid"/>
          </a:ln>
          <a:effectLst>
            <a:outerShdw sx="100000" sy="100000" kx="0" ky="0" algn="bl" rotWithShape="0" blurRad="3.605641592566428e+168" dist="1.802820796283214e+168" dir="3.6092235254878095e+197">
              <a:srgbClr val="000000">
                <a:alpha val="2.2000000000000007e+204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45352" y="4507992"/>
            <a:ext cx="64008" cy="731520"/>
          </a:xfrm>
          <a:prstGeom prst="rect">
            <a:avLst/>
          </a:prstGeom>
          <a:solidFill>
            <a:srgbClr val="5FE0A0"/>
          </a:solidFill>
          <a:ln w="12700">
            <a:solidFill>
              <a:srgbClr val="5FE0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6542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B"/>
                </a:solidFill>
              </a:rPr>
              <a:t>Docker deployment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46520" y="5074920"/>
            <a:ext cx="4736592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ACB"/>
                </a:solidFill>
              </a:rPr>
              <a:t>Portable, repeatable deployment for small teams.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24128" y="555040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F7FB"/>
                </a:solidFill>
              </a:rPr>
              <a:t>Target end-state: “Small organizations get centralized monitoring without the complexity of an enterprise stack.”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66928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F8397"/>
                </a:solidFill>
              </a:rPr>
              <a:t>Project basis: README — future scope section.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85800" y="1874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D4C6"/>
                </a:solidFill>
              </a:rPr>
              <a:t>Questions &amp; Viva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0" y="26060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9FF"/>
                </a:solidFill>
              </a:rPr>
              <a:t>1.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063240" y="260604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4F7FB"/>
                </a:solidFill>
              </a:rPr>
              <a:t>What is SIEM and why did you choose it?</a:t>
            </a:r>
            <a:endParaRPr lang="en-US" sz="1060" dirty="0"/>
          </a:p>
        </p:txBody>
      </p:sp>
      <p:sp>
        <p:nvSpPr>
          <p:cNvPr id="6" name="Text 4"/>
          <p:cNvSpPr/>
          <p:nvPr/>
        </p:nvSpPr>
        <p:spPr>
          <a:xfrm>
            <a:off x="2743200" y="3108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9FF"/>
                </a:solidFill>
              </a:rPr>
              <a:t>2.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63240" y="310896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4F7FB"/>
                </a:solidFill>
              </a:rPr>
              <a:t>How does your brute-force correlation rule work?</a:t>
            </a:r>
            <a:endParaRPr lang="en-US" sz="1060" dirty="0"/>
          </a:p>
        </p:txBody>
      </p:sp>
      <p:sp>
        <p:nvSpPr>
          <p:cNvPr id="8" name="Text 6"/>
          <p:cNvSpPr/>
          <p:nvPr/>
        </p:nvSpPr>
        <p:spPr>
          <a:xfrm>
            <a:off x="2743200" y="36118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9FF"/>
                </a:solidFill>
              </a:rPr>
              <a:t>3.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63240" y="361188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4F7FB"/>
                </a:solidFill>
              </a:rPr>
              <a:t>Where are logs stored in the current version?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2743200" y="41148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9FF"/>
                </a:solidFill>
              </a:rPr>
              <a:t>4.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411480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4F7FB"/>
                </a:solidFill>
              </a:rPr>
              <a:t>How is your project different from a firewall or IDS?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2743200" y="46177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9FF"/>
                </a:solidFill>
              </a:rPr>
              <a:t>5.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461772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4F7FB"/>
                </a:solidFill>
              </a:rPr>
              <a:t>What would you change before production deployment?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1280160" y="5669280"/>
            <a:ext cx="9646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A9BACB"/>
                </a:solidFill>
              </a:rPr>
              <a:t>Repo: github.com/rajat722005-p/SIEM-Lite-for-Small-Organizations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JOVAC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SIEM-Lite for Small Organizations</dc:title>
  <dc:subject>JOVAC Project Presentation – SIEM-Lite for Small Organizations</dc:subject>
  <dc:creator>Rajat Pandey</dc:creator>
  <cp:lastModifiedBy>Rajat Pandey</cp:lastModifiedBy>
  <cp:revision>1</cp:revision>
  <dcterms:created xsi:type="dcterms:W3CDTF">2026-08-31T09:12:13Z</dcterms:created>
  <dcterms:modified xsi:type="dcterms:W3CDTF">2026-08-31T09:12:13Z</dcterms:modified>
</cp:coreProperties>
</file>